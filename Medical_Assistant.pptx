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Judge scores (1–5) from gpt-4o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Groundedness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Sepsis</c:v>
                </c:pt>
                <c:pt idx="1">
                  <c:v>Appendicitis</c:v>
                </c:pt>
                <c:pt idx="2">
                  <c:v>Hair loss</c:v>
                </c:pt>
                <c:pt idx="3">
                  <c:v>Brain injury</c:v>
                </c:pt>
                <c:pt idx="4">
                  <c:v>Fracture (k=6)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FA-44E3-B997-46570D2ED7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Relevance</c:v>
                </c:pt>
              </c:strCache>
            </c:strRef>
          </c:tx>
          <c:spPr>
            <a:solidFill>
              <a:srgbClr val="8FA3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Sepsis</c:v>
                </c:pt>
                <c:pt idx="1">
                  <c:v>Appendicitis</c:v>
                </c:pt>
                <c:pt idx="2">
                  <c:v>Hair loss</c:v>
                </c:pt>
                <c:pt idx="3">
                  <c:v>Brain injury</c:v>
                </c:pt>
                <c:pt idx="4">
                  <c:v>Fracture (k=6)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FA-44E3-B997-46570D2ED7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2222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F7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75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ajbhandari3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Assistant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RAG-Based Clinical Q&amp;A System Grounded in the Merck Manual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22960" y="3794760"/>
            <a:ext cx="1280160" cy="54864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Kshitij Rajbhandari | Aspiring Analytics Engineer / Lead — Applied GenAI Portfolio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 Austin |  PGP - Artificial Intelligence &amp; Machine Learning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188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554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clinicians need fast, trusted answers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188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1554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LLM → Prompt engineering → RAG → Evaluation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&amp; Prompt Engineering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71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general-purpose model gets right and wrong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65176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606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&amp; Tuning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971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Merck Manual → 10,430 chunks → grounded answers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Evaluation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389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LLM-as-a-judge: groundedness and relevance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06908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40233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 Recommendations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4389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deploy and what to improve next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 &amp; Objective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6766560" cy="493776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61264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Challenge</a:t>
            </a:r>
            <a:endParaRPr lang="en-US" sz="1800" dirty="0"/>
          </a:p>
          <a:p>
            <a:pPr marL="0" indent="0">
              <a:spcAft>
                <a:spcPts val="24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professionals face information overload and must find accurate answers quickly, especially in emergencies. General-purpose LLMs answer fluently but without sources, and can be confidently wrong.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8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Retrieval-Augmented Generation (RAG) prototype that answers clinical questions using only the Merck Manual, then measure whether its answers are grounded in the source and relevant to the question.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680960" y="13258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4,114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9842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 the Merck Manual (23 sections)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679192"/>
            <a:ext cx="4023360" cy="13716"/>
          </a:xfrm>
          <a:prstGeom prst="rect">
            <a:avLst/>
          </a:prstGeom>
          <a:solidFill>
            <a:srgbClr val="D5DBEA"/>
          </a:solidFill>
          <a:ln w="12700">
            <a:solidFill>
              <a:srgbClr val="D5DBE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0" y="2971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6301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questions: sepsis, appendicitis, hair loss, brain injury, fractures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4325112"/>
            <a:ext cx="4023360" cy="13716"/>
          </a:xfrm>
          <a:prstGeom prst="rect">
            <a:avLst/>
          </a:prstGeom>
          <a:solidFill>
            <a:srgbClr val="D5DBEA"/>
          </a:solidFill>
          <a:ln w="12700">
            <a:solidFill>
              <a:srgbClr val="D5DB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0" y="46177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Grounded, not guessed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5276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traceable to a source page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Approach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1031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8FA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LLM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answers 5 clinical questions from memory as the baseline.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1463040"/>
            <a:ext cx="21031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8FA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2004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system prompt with 7 rules, tested with 5 parameter combinations.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21031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8FA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Data Prep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2004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clean, chunk and embed the manual; store vectors in ChromaDB.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1463040"/>
            <a:ext cx="2103120" cy="411480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8FA3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Tuning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32004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from retrieved context; tune k, temperature, top_p, max_tokens.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601200" y="1463040"/>
            <a:ext cx="210312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0" y="2377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0" y="3200400"/>
            <a:ext cx="1737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as an independent judge scores groundedness and relevance (1–5).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8064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compared with the one before it, so every gain (or loss) in answer quality can be traced to a specific change.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Baseline: Question Answering with the LLM Alone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(OpenAI API)   |  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0, top_p 0.95, max_tokens 800 (512 cut the test answer off mid-word)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 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8-phase protocol: SOFA/qSOFA, 30 mL/kg fluids, antibiotics within 1 h, norepinephrine to MAP ≥ 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 targets, but no corticosteroids or glucose control; no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Appendicitis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 symptoms; appendectomy (open or laparoscopic); 'cannot be cured by medicine'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Oversimplified: ignores antibiotic-only option; no diagnostic workup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Patchy hair loss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Alopecia areata; steroids, minoxidil, DPCP, anthralin, PRP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the true cause with look-alikes (tinea, hormones)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injury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Imaging, surgery, medication, multidisciplinary rehab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Unsafe: recommended corticosteroids (harmful in TBI)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 fracture (hiking)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aid, splint, pain relief, X-ray, cast/surgery, physio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Moved the patient before splinting; missed open fracture, DVT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and well structured, but generic, unsourced and occasionally unsafe.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Engineering: System Prompt &amp; Parameters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669280" cy="4983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prompt (7 rules)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an experienced clinical assistant supporting doctors and nurses..."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current, evidence-based guidelines; never recommend outdated or harmful treatments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Structure: assessment → immediate management → definitive treatment → follow-up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doses, targets, time frames and red flags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part of multi-part questions; be concise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uncertainty; end with a clinical-judgement reminder</a:t>
            </a:r>
            <a:endParaRPr lang="en-US" sz="17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targets a failure seen in the baseline answers.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234440"/>
          <a:ext cx="530352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Appendicitis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injury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 fracture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6400800" y="42519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parameters: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(0–0.2), top_p ≈ 0.8 and 800–1000 tokens gave the most precise, complete answers (★).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drove most of the gain; parameters mainly changed length and consistency.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Engineering: What Changed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vs.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order, Sepsis-3 criteria (SOFA ≥ 2), named antibiotics, de-escalation at 48–72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no corticosteroids or glucose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Appendicitis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McBurney's point, CBC/CRP/ultrasound/CT workup, surgery within 24 h, follow-up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says medicine alone can't cure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Separates alopecia areata, tinea, telogen effluvium, traction alopecia; adds doses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Slip: telogen effluvium called 'patchy' (drift at temp 0.7)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injury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Steroid error removed; GCS, CT, levetiracetam, mannitol / hypertonic saline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blood-pressure or perfusion targets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 fracture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Immobilise before transport; open-fracture antibiotics, shock, compartment syndrome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the hiking context; no DVT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shapes how the model answers, but it can't add knowledge the model doesn't reliably have, and the answers remain unsourced.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Data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4,112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1284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pages (of 4,114)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21284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removed (watermark, TOC dots)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2801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10,430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21284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indexed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1280160"/>
            <a:ext cx="2606040" cy="1554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61120" y="1417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1,024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2212848"/>
            <a:ext cx="233172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per embedding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Choices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813048"/>
            <a:ext cx="128016" cy="12801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703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108960" y="36576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with tiktoken (cl100k_base): chunk_size 400, chunk_overlap 50, sized to stay under the embedding model's 512-token limit.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471416"/>
            <a:ext cx="128016" cy="12801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361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31596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thenlper/gte-large on a local NVIDIA GPU, normalised vectors for fair similarity comparison.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129784"/>
            <a:ext cx="128016" cy="12801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2005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497433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persisted to disk: built once (~30 min on a GTX 1660 Ti), reloads in seconds.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5788152"/>
            <a:ext cx="128016" cy="12801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678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generation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108960" y="5632704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search, k = 3 by default; gpt-4o-mini with max_tokens 800, temperature 0, top_p 0.95.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RAG: System &amp; User Prompts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5852160" cy="49834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message</a:t>
            </a:r>
            <a:endParaRPr lang="en-US" sz="17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clinical assistant for healthcare professionals. You answer medical questions using ONLY the context provided from the Merck Manual."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every statement on ###Context; add no outside facts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order: assessment → management → treatment → follow-up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every part; say which parts the context doesn't cover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"I don't have enough information in the provided manual to answer this question."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drug names, doses and time frames exactly as in the context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583680" y="1234440"/>
            <a:ext cx="51206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0" y="14630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message template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###Context</a:t>
            </a:r>
            <a:endParaRPr lang="en-US" sz="16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{context}   ← top-k chunks, each tagged [page N]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###Question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{question}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384048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generate_rag_response()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k chunks → label each with its page number → fill the template → call gpt-4o-mini. Wrapped in try/except so API errors return a message instead of crashing.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Answers (k =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summary (grounded in the Merck Manual)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 saline to CVP 8 / PAOP 12–15 mm Hg, O₂, antibiotics, source control, glucose, corticosteroids, dopamine → norepinephrine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A1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earlier gaps, but neonatal antibiotics leaked in from a noisy chunk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Appendicitis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Pain, anorexia, tenderness; CT/ultrasound; open or laparoscopic appendectomy; IV antibiotics if perforated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Concise and traceable; narrower than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Autoimmune alopecia areata; steroid ladder, minoxidil (unproven), anthralin, DPCP/SADBE, PUVA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cause; honestly flags missing info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injury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 and GCS; airway and oxygenation; mild → observe, moderate/severe → ICP, seizures, surgery; fentanyl; rehab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Safe: no steroids; first severity-based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 fracture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Stress-fracture care: rest, elevation, ice, splint, repeat X-ray at 2–3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miss: answered stress fracture, not acute trauma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trades some breadth for correctness and traceability, but it can only be as good as what retrieval returns.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Fine-Tuning: 5 Combinations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vs. default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the answer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0 → 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facts, different wording; happened to skip the neonatal chunk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reliable; keep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Appendicitis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 0.95 → 0.5 (temp 0.5)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Nearly identical; added 'no antibiotics after non-perforated surgery'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top_p = stability guard-rail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 loss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max_tokens 800 → 300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content kept, but the summary was cut off with no warning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A15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tight; use 500–800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Brain injury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0.7 + top_p 1.0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safe and grounded; slightly shorter, lost details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anchors the facts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 fracture ★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3 →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the retrieval miss: open vs. closed, compartment syndrome, splinting, antibiotics, transport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E7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Best: biggest gain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94960"/>
            <a:ext cx="11247120" cy="7772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3949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configuration: </a:t>
            </a: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5–6, temperature 0–0.2, top_p ≈ 0.95, max_tokens ≈ 800. </a:t>
            </a:r>
            <a:r>
              <a:rPr lang="en-US" sz="13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changed what the model knew; the other settings only changed how it wrote.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Evaluation: LLM-as-a-Judge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63093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132320" y="1280160"/>
            <a:ext cx="45720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judged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as judge (a different, stronger model than the gpt-4o-mini generator, to avoid self-grading bias), temperature 0.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Groundedness: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statement supported by the retrieved context?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answer address every part of the question?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scores missed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was 5/5 even for the sepsis answer with neonatal antibiotics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stress-fracture answer (k=3) also scored 5, the same as k=6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check coverage, not clinical fit: pair them with clinician review.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2918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17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579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recommendations with RAG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32918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0632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4–5 / 5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0390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on all 5 questions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572000"/>
            <a:ext cx="3291840" cy="1463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4709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3 → 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544982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change that fixed the weakest answer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32588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148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1280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made answers safer and traceable.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16642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removed the baseline's unsafe corticosteroid advice for brain injury.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2276856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114800" y="22768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709160" y="22311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improves structure; RAG improves trust.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709160" y="261518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prompt gave clinician-ready structure; only RAG made answers verifiable.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0" y="3227832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318211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drives answer quality.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709160" y="35661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had the biggest impact; the other settings mostly changed wording and length.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114800" y="4178808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11480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13308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temperature (0–0.2) suits clinical use.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709160" y="4517136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max_tokens below ~400 truncated answers without warning.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114800" y="5129784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114800" y="5129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09160" y="50840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LLM-as-a-judge is useful, not sufficient.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4709160" y="5468112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scored mis-targeted answers 5/5, so human review is still needed.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0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536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support, not decision-maker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57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Merck Manual page numbers with every answer and a clear 'verify with clinical judgement' notice.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280160"/>
            <a:ext cx="5486400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55448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554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536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retrieval before scaling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2057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k = 5–6, MMR search to cut redundant chunks, and metadata filters (adult vs. paediatric/neonatal).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5486400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56616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547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knowledge base current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 inherit the source's age (e.g., dopamine-first advice). Refresh with new editions and guidelines.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5486400" cy="178308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3566160"/>
            <a:ext cx="411480" cy="4114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92240" y="3566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54787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quality checks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40690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automated groundedness/relevance scores with periodic clinician review, tracked on a KPI dashboard.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cost with a small model to generate and a stronger one only to judge, cache frequent questions, and keep max_tokens ≈ 800.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Setup &amp; Lessons Learned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Jupyter, Python 3.12, NVIDIA GTX 1660 Ti (CUDA)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LangChain, ChromaDB, sentence-transformers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PyMuPDF, tiktoken (cl100k_base)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thenlper/gte-large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(OpenAI API)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gpt-4o-mini (generate), gpt-4o (judge)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680960" y="1234440"/>
            <a:ext cx="40233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raw data before chunking: a watermark on every page would have polluted every vector.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the vector store: 30+ minutes to build once, seconds to reload.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retrieval (k) before generation settings.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API keys in a config file, never in notebook cells or outputs.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950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notebook: </a:t>
            </a:r>
            <a:r>
              <a:rPr lang="en-US" sz="1400" u="sng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- krajbhandari3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Assistant (RAG)  |  UT Austin - PGP AI &amp; 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2226</Words>
  <Application>Microsoft Office PowerPoint</Application>
  <PresentationFormat>Widescreen</PresentationFormat>
  <Paragraphs>318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Assistant – RAG-Based Clinical Q&amp;A</dc:title>
  <dc:subject>PptxGenJS Presentation</dc:subject>
  <dc:creator>Kshitij Rajbhandari</dc:creator>
  <cp:lastModifiedBy>Kshitij</cp:lastModifiedBy>
  <cp:revision>1</cp:revision>
  <dcterms:created xsi:type="dcterms:W3CDTF">2026-09-28T02:39:49Z</dcterms:created>
  <dcterms:modified xsi:type="dcterms:W3CDTF">2026-09-28T02:51:53Z</dcterms:modified>
</cp:coreProperties>
</file>